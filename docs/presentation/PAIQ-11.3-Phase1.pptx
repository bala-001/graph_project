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F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371600" cy="635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EA8A7"/>
                </a:solidFill>
                <a:latin typeface="Arial"/>
              </a:rPr>
              <a:t>PAIQ IDEA 11.3  · 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Relationship-Aware Extraction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+ Extraction-Time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EA8A7"/>
                </a:solidFill>
                <a:latin typeface="Arial"/>
              </a:rPr>
              <a:t>Emit structured edge-triples natively, and catch logical contradictions before they are committed.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Approach D</a:t>
            </a:r>
            <a:r>
              <a:rPr sz="1500" b="0">
                <a:solidFill>
                  <a:srgbClr val="B8CBCE"/>
                </a:solidFill>
                <a:latin typeface="Arial"/>
              </a:rPr>
              <a:t>   modified extraction emits fields + edges via provider structured outputs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Guardrails</a:t>
            </a:r>
            <a:r>
              <a:rPr sz="1500" b="0">
                <a:solidFill>
                  <a:srgbClr val="B8CBCE"/>
                </a:solidFill>
                <a:latin typeface="Arial"/>
              </a:rPr>
              <a:t>   4 detectors fire after each LLM call, before the next chunk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B83"/>
                </a:solidFill>
                <a:latin typeface="Arial"/>
              </a:rPr>
              <a:t>github.com/bala-001/graph_project   ·   Phase 1 buildable-now subset   ·   Status: unit-green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Clients see contradictory and incomplete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Facts are extracted correctly today.</a:t>
            </a:r>
            <a:r>
              <a:rPr sz="1500">
                <a:solidFill>
                  <a:srgbClr val="6B7B83"/>
                </a:solidFill>
                <a:latin typeface="Arial"/>
              </a:rPr>
              <a:t>  Drugs, age limits, dates, step-therapy entries, quantity limits.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Relationships between them are lost.</a:t>
            </a:r>
            <a:r>
              <a:rPr sz="1500">
                <a:solidFill>
                  <a:srgbClr val="6B7B83"/>
                </a:solidFill>
                <a:latin typeface="Arial"/>
              </a:rPr>
              <a:t>  Prerequisite chains split into disconnected facts.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Contradictions ship unflagged.</a:t>
            </a:r>
            <a:r>
              <a:rPr sz="1500">
                <a:solidFill>
                  <a:srgbClr val="6B7B83"/>
                </a:solidFill>
                <a:latin typeface="Arial"/>
              </a:rPr>
              <a:t>  Two criteria for the same drug-indication conflict, no warning.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Multi-page content is handled chunk-by-chunk.</a:t>
            </a:r>
            <a:r>
              <a:rPr sz="1500">
                <a:solidFill>
                  <a:srgbClr val="6B7B83"/>
                </a:solidFill>
                <a:latin typeface="Arial"/>
              </a:rPr>
              <a:t>  A definition on page 3 modifying a criterion on page 17 is not reconstructed.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External pressure.</a:t>
            </a:r>
            <a:r>
              <a:rPr sz="1500">
                <a:solidFill>
                  <a:srgbClr val="6B7B83"/>
                </a:solidFill>
                <a:latin typeface="Arial"/>
              </a:rPr>
              <a:t>  Client complaint tickets are the demand signal, not internal opinion.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5120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783080"/>
            <a:ext cx="82296" cy="402336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E4447"/>
                </a:solidFill>
                <a:latin typeface="Arial"/>
              </a:rPr>
              <a:t>EXAMPLE: SPLIT PREREQUISITE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7744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Drug A</a:t>
            </a:r>
            <a:r>
              <a:rPr sz="1500" b="0">
                <a:solidFill>
                  <a:srgbClr val="6B7B83"/>
                </a:solidFill>
                <a:latin typeface="Arial"/>
              </a:rPr>
              <a:t> requires step therapy with </a:t>
            </a:r>
            <a:r>
              <a:rPr sz="1500" b="1">
                <a:solidFill>
                  <a:srgbClr val="14323B"/>
                </a:solidFill>
                <a:latin typeface="Consolas"/>
              </a:rPr>
              <a:t>Drug 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Drug B</a:t>
            </a:r>
            <a:r>
              <a:rPr sz="1500" b="0">
                <a:solidFill>
                  <a:srgbClr val="6B7B83"/>
                </a:solidFill>
                <a:latin typeface="Arial"/>
              </a:rPr>
              <a:t> has an age restriction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383280"/>
            <a:ext cx="4572000" cy="12700"/>
          </a:xfrm>
          <a:prstGeom prst="rect">
            <a:avLst/>
          </a:prstGeom>
          <a:solidFill>
            <a:srgbClr val="D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520440"/>
            <a:ext cx="4663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Today: </a:t>
            </a:r>
            <a:r>
              <a:rPr sz="1400" b="0">
                <a:solidFill>
                  <a:srgbClr val="6B7B83"/>
                </a:solidFill>
                <a:latin typeface="Arial"/>
              </a:rPr>
              <a:t>3 disconnected facts. The chain A → B → age is never surfaced.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Goal: </a:t>
            </a:r>
            <a:r>
              <a:rPr sz="1400" b="0">
                <a:solidFill>
                  <a:srgbClr val="14323B"/>
                </a:solidFill>
                <a:latin typeface="Arial"/>
              </a:rPr>
              <a:t>emit the edges, detect the contradictions, reduce complaint tickets by 50% in 90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Two changes to the extraction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82296" cy="41148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7884"/>
                </a:solidFill>
                <a:latin typeface="Arial"/>
              </a:rPr>
              <a:t>APPROACH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4323B"/>
                </a:solidFill>
                <a:latin typeface="Arial"/>
              </a:rPr>
              <a:t>Relationship-aware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Emits fields + edges natively.</a:t>
            </a:r>
            <a:r>
              <a:rPr sz="1400">
                <a:solidFill>
                  <a:srgbClr val="6B7B83"/>
                </a:solidFill>
                <a:latin typeface="Arial"/>
              </a:rPr>
              <a:t>  Same call, structured edge-triples added.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Provider built-in structured outputs.</a:t>
            </a:r>
            <a:r>
              <a:rPr sz="1400">
                <a:solidFill>
                  <a:srgbClr val="6B7B83"/>
                </a:solidFill>
                <a:latin typeface="Arial"/>
              </a:rPr>
              <a:t>  OpenAI json_schema strict OR Anthropic tool-use.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Pydantic-defined schema.</a:t>
            </a:r>
            <a:r>
              <a:rPr sz="1400">
                <a:solidFill>
                  <a:srgbClr val="6B7B83"/>
                </a:solidFill>
                <a:latin typeface="Arial"/>
              </a:rPr>
              <a:t>  5 predicates, typed nodes, qualifiers.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Behind a feature flag.</a:t>
            </a:r>
            <a:r>
              <a:rPr sz="1400">
                <a:solidFill>
                  <a:srgbClr val="6B7B83"/>
                </a:solidFill>
                <a:latin typeface="Arial"/>
              </a:rPr>
              <a:t>  paiq.d_extraction.enabled = instant revert.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82296" cy="41148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E4447"/>
                </a:solidFill>
                <a:latin typeface="Arial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4323B"/>
                </a:solidFill>
                <a:latin typeface="Arial"/>
              </a:rPr>
              <a:t>Extraction-time consistency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4 detection scenarios.</a:t>
            </a:r>
            <a:r>
              <a:rPr sz="1400">
                <a:solidFill>
                  <a:srgbClr val="6B7B83"/>
                </a:solidFill>
                <a:latin typeface="Arial"/>
              </a:rPr>
              <a:t>  Circular, prereq mismatch, contradictory limits, age conflict.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Fires between LLM calls.</a:t>
            </a:r>
            <a:r>
              <a:rPr sz="1400">
                <a:solidFill>
                  <a:srgbClr val="6B7B83"/>
                </a:solidFill>
                <a:latin typeface="Arial"/>
              </a:rPr>
              <a:t>  After each chunk, before the next commits (D10).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Reject + retry with validator error.</a:t>
            </a:r>
            <a:r>
              <a:rPr sz="1400">
                <a:solidFill>
                  <a:srgbClr val="6B7B83"/>
                </a:solidFill>
                <a:latin typeface="Arial"/>
              </a:rPr>
              <a:t>  Up to 3 retries, then analyst flag.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E4447"/>
                </a:solidFill>
                <a:latin typeface="Arial"/>
              </a:rPr>
              <a:t>— </a:t>
            </a:r>
            <a:r>
              <a:rPr sz="1400" b="1">
                <a:solidFill>
                  <a:srgbClr val="14323B"/>
                </a:solidFill>
                <a:latin typeface="Arial"/>
              </a:rPr>
              <a:t>3-counter FP telemetry.</a:t>
            </a:r>
            <a:r>
              <a:rPr sz="1400">
                <a:solidFill>
                  <a:srgbClr val="6B7B83"/>
                </a:solidFill>
                <a:latin typeface="Arial"/>
              </a:rPr>
              <a:t>  Clean false-positive rate for the Week-6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What an edge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7884"/>
                </a:solidFill>
                <a:latin typeface="Arial"/>
              </a:rPr>
              <a:t>FIVE EDGE PREDICATES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51206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82296" cy="603504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Consolas"/>
              </a:rPr>
              <a:t>requires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5798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A needs B satisfied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51206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82296" cy="603504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950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Consolas"/>
              </a:rPr>
              <a:t>excludes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8950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A rules out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51206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82296" cy="603504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2102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Consolas"/>
              </a:rPr>
              <a:t>applies_to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2102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criterion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97680"/>
            <a:ext cx="51206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82296" cy="603504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5254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Consolas"/>
              </a:rPr>
              <a:t>overrides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35254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amendment supersedes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29200"/>
            <a:ext cx="51206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029200"/>
            <a:ext cx="82296" cy="603504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8406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Consolas"/>
              </a:rPr>
              <a:t>effective_from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08406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date a rule starts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783080"/>
            <a:ext cx="5760720" cy="4206240"/>
          </a:xfrm>
          <a:prstGeom prst="roundRect">
            <a:avLst/>
          </a:prstGeom>
          <a:solidFill>
            <a:srgbClr val="14323B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9659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EA8A7"/>
                </a:solidFill>
                <a:latin typeface="Consolas"/>
              </a:rPr>
              <a:t>Edge  (src/d_extraction/schema.py)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423160"/>
            <a:ext cx="5212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kind:        EdgeKind        # one of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subject:     DrugNode        # canonical_id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object:      DrugNode 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IndicationNode | str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qualifiers:  dict            # age_min/max,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dosage_*, quantity_*, age_exact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source_page / source_chunk_id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model_confidence: float|None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709160"/>
            <a:ext cx="5120640" cy="127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846320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A33C"/>
                </a:solidFill>
                <a:latin typeface="Arial"/>
              </a:rPr>
              <a:t>Shape, not semantics.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FDCDE"/>
                </a:solidFill>
                <a:latin typeface="Arial"/>
              </a:rPr>
              <a:t>Strict schema guarantees a valid edge can still be logically wrong. Guardrails + eval are the semantic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B83"/>
                </a:solidFill>
                <a:latin typeface="Arial"/>
              </a:rPr>
              <a:t>Per document: chunk → extract → guard → journal → materialize. Edges are checked before the next chunk commits.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5910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82296" cy="109728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15910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PBM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document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2112264" y="2715768"/>
            <a:ext cx="210312" cy="329184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40864" y="2331720"/>
            <a:ext cx="15910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2331720"/>
            <a:ext cx="82296" cy="109728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2331720"/>
            <a:ext cx="15910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Chunk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i..N</a:t>
            </a:r>
          </a:p>
        </p:txBody>
      </p:sp>
      <p:sp>
        <p:nvSpPr>
          <p:cNvPr id="16" name="Chevron 15"/>
          <p:cNvSpPr/>
          <p:nvPr/>
        </p:nvSpPr>
        <p:spPr>
          <a:xfrm>
            <a:off x="3950208" y="2715768"/>
            <a:ext cx="210312" cy="329184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78808" y="2331720"/>
            <a:ext cx="15910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78808" y="2331720"/>
            <a:ext cx="82296" cy="109728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8" y="2331720"/>
            <a:ext cx="15910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D-mode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LLM call</a:t>
            </a:r>
          </a:p>
        </p:txBody>
      </p:sp>
      <p:sp>
        <p:nvSpPr>
          <p:cNvPr id="20" name="Chevron 19"/>
          <p:cNvSpPr/>
          <p:nvPr/>
        </p:nvSpPr>
        <p:spPr>
          <a:xfrm>
            <a:off x="5788152" y="2715768"/>
            <a:ext cx="210312" cy="329184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16752" y="2331720"/>
            <a:ext cx="15910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16752" y="2331720"/>
            <a:ext cx="82296" cy="109728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2331720"/>
            <a:ext cx="15910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Guardrails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check</a:t>
            </a:r>
          </a:p>
        </p:txBody>
      </p:sp>
      <p:sp>
        <p:nvSpPr>
          <p:cNvPr id="24" name="Chevron 23"/>
          <p:cNvSpPr/>
          <p:nvPr/>
        </p:nvSpPr>
        <p:spPr>
          <a:xfrm>
            <a:off x="7626096" y="2715768"/>
            <a:ext cx="210312" cy="329184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54696" y="2331720"/>
            <a:ext cx="15910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4696" y="2331720"/>
            <a:ext cx="82296" cy="109728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54696" y="2331720"/>
            <a:ext cx="15910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Batched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journal</a:t>
            </a:r>
          </a:p>
        </p:txBody>
      </p:sp>
      <p:sp>
        <p:nvSpPr>
          <p:cNvPr id="28" name="Chevron 27"/>
          <p:cNvSpPr/>
          <p:nvPr/>
        </p:nvSpPr>
        <p:spPr>
          <a:xfrm>
            <a:off x="9464040" y="2715768"/>
            <a:ext cx="210312" cy="329184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2331720"/>
            <a:ext cx="15910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2331720"/>
            <a:ext cx="82296" cy="1097280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331720"/>
            <a:ext cx="15910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Materialize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+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520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33C"/>
                </a:solidFill>
                <a:latin typeface="Arial"/>
              </a:rPr>
              <a:t>↺  retry / loop per chunk (max 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160520"/>
            <a:ext cx="5486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160520"/>
            <a:ext cx="82296" cy="169164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297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DOWNSTREAM CONSUMERS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66344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4323B"/>
                </a:solidFill>
                <a:latin typeface="Arial"/>
              </a:rPr>
              <a:t>Check </a:t>
            </a:r>
            <a:r>
              <a:rPr sz="1400" b="1">
                <a:solidFill>
                  <a:srgbClr val="14323B"/>
                </a:solidFill>
                <a:latin typeface="Consolas"/>
              </a:rPr>
              <a:t>extraction_complete</a:t>
            </a:r>
            <a:r>
              <a:rPr sz="1400" b="0">
                <a:solidFill>
                  <a:srgbClr val="14323B"/>
                </a:solidFill>
                <a:latin typeface="Arial"/>
              </a:rPr>
              <a:t> first.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false → row is INVISIBLE (not-yet-extracted), 24h GC re-queues.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true → surface fields + edges to analyst tools / client reports.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160520"/>
            <a:ext cx="5486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160520"/>
            <a:ext cx="82296" cy="169164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E4447"/>
                </a:solidFill>
                <a:latin typeface="Arial"/>
              </a:rPr>
              <a:t>FEATURE FLAG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66344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4323B"/>
                </a:solidFill>
                <a:latin typeface="Consolas"/>
              </a:rPr>
              <a:t>paiq.d_extraction.enabled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true  → D prompts run, edges emitted, guardrails consulted.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false → baseline prompts, no edges. Instant revert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Detection order, then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B83"/>
                </a:solidFill>
                <a:latin typeface="Arial"/>
              </a:rPr>
              <a:t>Four scenarios run in a fixed order. The first hit short-circuits to REJECT_RETRY. No hit means ACCEPT.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6700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82296" cy="123444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86584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1  Circular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07208"/>
            <a:ext cx="23957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B83"/>
                </a:solidFill>
                <a:latin typeface="Arial"/>
              </a:rPr>
              <a:t>A requires B; B requires A</a:t>
            </a:r>
          </a:p>
        </p:txBody>
      </p:sp>
      <p:sp>
        <p:nvSpPr>
          <p:cNvPr id="13" name="Chevron 12"/>
          <p:cNvSpPr/>
          <p:nvPr/>
        </p:nvSpPr>
        <p:spPr>
          <a:xfrm>
            <a:off x="3177540" y="2697480"/>
            <a:ext cx="118872" cy="310896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240280"/>
            <a:ext cx="26700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240280"/>
            <a:ext cx="82296" cy="123444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386584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2  Prerequisite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807208"/>
            <a:ext cx="23957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B83"/>
                </a:solidFill>
                <a:latin typeface="Arial"/>
              </a:rPr>
              <a:t>requires vs excludes on same pair</a:t>
            </a:r>
          </a:p>
        </p:txBody>
      </p:sp>
      <p:sp>
        <p:nvSpPr>
          <p:cNvPr id="18" name="Chevron 17"/>
          <p:cNvSpPr/>
          <p:nvPr/>
        </p:nvSpPr>
        <p:spPr>
          <a:xfrm>
            <a:off x="5966460" y="2697480"/>
            <a:ext cx="118872" cy="310896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2240280"/>
            <a:ext cx="26700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2240280"/>
            <a:ext cx="82296" cy="123444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2386584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3  Contradictory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807208"/>
            <a:ext cx="23957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B83"/>
                </a:solidFill>
                <a:latin typeface="Arial"/>
              </a:rPr>
              <a:t>min bound exceeds max bound</a:t>
            </a:r>
          </a:p>
        </p:txBody>
      </p:sp>
      <p:sp>
        <p:nvSpPr>
          <p:cNvPr id="23" name="Chevron 22"/>
          <p:cNvSpPr/>
          <p:nvPr/>
        </p:nvSpPr>
        <p:spPr>
          <a:xfrm>
            <a:off x="8755380" y="2697480"/>
            <a:ext cx="118872" cy="310896"/>
          </a:xfrm>
          <a:prstGeom prst="chevron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9680" y="2240280"/>
            <a:ext cx="26700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240280"/>
            <a:ext cx="82296" cy="123444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2386584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4  Age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2807208"/>
            <a:ext cx="23957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B83"/>
                </a:solidFill>
                <a:latin typeface="Arial"/>
              </a:rPr>
              <a:t>exact age qualifier mismatch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40480"/>
            <a:ext cx="5486400" cy="2011680"/>
          </a:xfrm>
          <a:prstGeom prst="roundRect">
            <a:avLst/>
          </a:prstGeom>
          <a:solidFill>
            <a:srgbClr val="ECF4F3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840480"/>
            <a:ext cx="82296" cy="201168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23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77884"/>
                </a:solidFill>
                <a:latin typeface="Arial"/>
              </a:rPr>
              <a:t>ACCEPT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2628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4323B"/>
                </a:solidFill>
                <a:latin typeface="Arial"/>
              </a:rPr>
              <a:t>No detector triggered. The edge is appended to the journal buffer and extraction proceeds to the next chunk.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80"/>
            <a:ext cx="5486400" cy="201168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840480"/>
            <a:ext cx="82296" cy="201168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E4447"/>
                </a:solidFill>
                <a:latin typeface="Arial"/>
              </a:rPr>
              <a:t>REJECT_RETRY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2628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4323B"/>
                </a:solidFill>
                <a:latin typeface="Arial"/>
              </a:rPr>
              <a:t>Re-extract this relationship with the validator error attached. Up to 3 retries, then fall back to an analyst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Three outcomes, one clean false-positive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B83"/>
                </a:solidFill>
                <a:latin typeface="Arial"/>
              </a:rPr>
              <a:t>On REJECT_RETRY the model re-extracts. Each rejected edge resolves to exactly one counter (D4 + canonicalization).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363016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82296" cy="246888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172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E4447"/>
                </a:solidFill>
                <a:latin typeface="Arial"/>
              </a:rPr>
              <a:t>COUNTER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172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323B"/>
                </a:solidFill>
                <a:latin typeface="Arial"/>
              </a:rPr>
              <a:t>Same edge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17296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Model reproduces the same canonical edge. The guardrail was likely wrong. Real false positive. Accept the 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194560"/>
            <a:ext cx="363016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194560"/>
            <a:ext cx="82296" cy="246888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377440"/>
            <a:ext cx="3172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7884"/>
                </a:solidFill>
                <a:latin typeface="Arial"/>
              </a:rPr>
              <a:t>COUNTER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743200"/>
            <a:ext cx="3172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323B"/>
                </a:solidFill>
                <a:latin typeface="Arial"/>
              </a:rPr>
              <a:t>Different, now 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91840"/>
            <a:ext cx="317296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Model returns a corrected edge that passes the check. True positive. Accept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2194560"/>
            <a:ext cx="363016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2194560"/>
            <a:ext cx="82296" cy="246888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377440"/>
            <a:ext cx="3172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A33C"/>
                </a:solidFill>
                <a:latin typeface="Arial"/>
              </a:rPr>
              <a:t>COUNTER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743200"/>
            <a:ext cx="3172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323B"/>
                </a:solidFill>
                <a:latin typeface="Arial"/>
              </a:rPr>
              <a:t>Retries exhausted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291840"/>
            <a:ext cx="317296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B83"/>
                </a:solidFill>
                <a:latin typeface="Arial"/>
              </a:rPr>
              <a:t>No acceptable edge after MAX_RETRIES = 3. Raise an analyst flag. Accept nothing.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37760"/>
            <a:ext cx="11201400" cy="914400"/>
          </a:xfrm>
          <a:prstGeom prst="round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onsolas"/>
              </a:rPr>
              <a:t>FP rate  =  counter 1 / total</a:t>
            </a:r>
            <a:r>
              <a:rPr sz="1500" b="0">
                <a:solidFill>
                  <a:srgbClr val="CFDCDE"/>
                </a:solidFill>
                <a:latin typeface="Arial"/>
              </a:rPr>
              <a:t>        Week-6 Kill Criteria gate: must stay within </a:t>
            </a:r>
            <a:r>
              <a:rPr sz="1600" b="1">
                <a:solidFill>
                  <a:srgbClr val="F2A33C"/>
                </a:solidFill>
                <a:latin typeface="Arial"/>
              </a:rPr>
              <a:t>1–15%</a:t>
            </a:r>
            <a:r>
              <a:rPr sz="1500" b="0">
                <a:solidFill>
                  <a:srgbClr val="CFDCDE"/>
                </a:solidFill>
                <a:latin typeface="Arial"/>
              </a:rPr>
              <a:t>.  Outside → tune or disable.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DURABILITY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Persist-as-you-go journal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Accepted edges buffer in memory.</a:t>
            </a:r>
            <a:r>
              <a:rPr sz="1500">
                <a:solidFill>
                  <a:srgbClr val="6B7B83"/>
                </a:solidFill>
                <a:latin typeface="Arial"/>
              </a:rPr>
              <a:t>  One JournalWriter per document.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Flush every 10 edges OR 5 seconds.</a:t>
            </a:r>
            <a:r>
              <a:rPr sz="1500">
                <a:solidFill>
                  <a:srgbClr val="6B7B83"/>
                </a:solidFill>
                <a:latin typeface="Arial"/>
              </a:rPr>
              <a:t>  Whichever comes first (D7 batching).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One JSON line per edge.</a:t>
            </a:r>
            <a:r>
              <a:rPr sz="1500">
                <a:solidFill>
                  <a:srgbClr val="6B7B83"/>
                </a:solidFill>
                <a:latin typeface="Arial"/>
              </a:rPr>
              <a:t>  Appended to document_id.journal.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On complete: replay + collapse.</a:t>
            </a:r>
            <a:r>
              <a:rPr sz="1500">
                <a:solidFill>
                  <a:srgbClr val="6B7B83"/>
                </a:solidFill>
                <a:latin typeface="Arial"/>
              </a:rPr>
              <a:t>  Write document_id.json, set complete = true.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FE4447"/>
                </a:solidFill>
                <a:latin typeface="Arial"/>
              </a:rPr>
              <a:t>— </a:t>
            </a:r>
            <a:r>
              <a:rPr sz="1500" b="1">
                <a:solidFill>
                  <a:srgbClr val="14323B"/>
                </a:solidFill>
                <a:latin typeface="Arial"/>
              </a:rPr>
              <a:t>Crash mid-document is safe.</a:t>
            </a:r>
            <a:r>
              <a:rPr sz="1500">
                <a:solidFill>
                  <a:srgbClr val="6B7B83"/>
                </a:solidFill>
                <a:latin typeface="Arial"/>
              </a:rPr>
              <a:t>  Flag stays false; row invisible; 24h GC re-queues.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8308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82296" cy="54864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470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emit edge → in-memory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496312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496312"/>
            <a:ext cx="82296" cy="658368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flush when  len ≥ 10  OR  5s elapsed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6207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B83"/>
                </a:solidFill>
                <a:latin typeface="Arial"/>
              </a:rPr>
              <a:t>append batch to .journal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319272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3319272"/>
            <a:ext cx="82296" cy="658368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383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extraction_complete =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85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B83"/>
                </a:solidFill>
                <a:latin typeface="Arial"/>
              </a:rPr>
              <a:t>final flush → replay → 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142232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142232"/>
            <a:ext cx="82296" cy="658368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206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323B"/>
                </a:solidFill>
                <a:latin typeface="Arial"/>
              </a:rPr>
              <a:t>downstream sees the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5079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B83"/>
                </a:solidFill>
                <a:latin typeface="Arial"/>
              </a:rPr>
              <a:t>only after .json exists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Shadow mode: measure D before it 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B83"/>
                </a:solidFill>
                <a:latin typeface="Arial"/>
              </a:rPr>
              <a:t>Baseline and D-mode run on the same document. The harness compares against analyst-corrected ground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1828800"/>
          </a:xfrm>
          <a:prstGeom prst="rect">
            <a:avLst/>
          </a:prstGeom>
          <a:solidFill>
            <a:srgbClr val="6B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4323B"/>
                </a:solidFill>
                <a:latin typeface="Arial"/>
              </a:rPr>
              <a:t>Existing prompts. Fields only, no edges. The regression reference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14884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148840"/>
            <a:ext cx="82296" cy="18288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7884"/>
                </a:solidFill>
                <a:latin typeface="Arial"/>
              </a:rPr>
              <a:t>D-MODE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4323B"/>
                </a:solidFill>
                <a:latin typeface="Arial"/>
              </a:rPr>
              <a:t>Fields + edges. Compared edge-by-edge using canonicalized membership.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148840"/>
            <a:ext cx="3703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148840"/>
            <a:ext cx="82296" cy="18288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E4447"/>
                </a:solidFill>
                <a:latin typeface="Arial"/>
              </a:rPr>
              <a:t>GROUND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4323B"/>
                </a:solidFill>
                <a:latin typeface="Arial"/>
              </a:rPr>
              <a:t>Analyst-corrected edges on the 50-doc cascade-OCR eval set. Live run is Phase-0-gated.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06240"/>
            <a:ext cx="3685032" cy="1645920"/>
          </a:xfrm>
          <a:prstGeom prst="roundRect">
            <a:avLst/>
          </a:prstGeom>
          <a:solidFill>
            <a:srgbClr val="ECF4F3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3227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Arial"/>
              </a:rPr>
              <a:t>Edge precision /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3227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77884"/>
                </a:solidFill>
                <a:latin typeface="Consolas"/>
              </a:rPr>
              <a:t>|D ∩ GT| / |D|  and  / |GT|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206240"/>
            <a:ext cx="3685032" cy="1645920"/>
          </a:xfrm>
          <a:prstGeom prst="roundRect">
            <a:avLst/>
          </a:prstGeom>
          <a:solidFill>
            <a:srgbClr val="ECF4F3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4389120"/>
            <a:ext cx="3227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Arial"/>
              </a:rPr>
              <a:t>Wilson 95% lower bound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5074920"/>
            <a:ext cx="3227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77884"/>
                </a:solidFill>
                <a:latin typeface="Consolas"/>
              </a:rPr>
              <a:t>defends gates from small-N noise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8" y="4206240"/>
            <a:ext cx="3685032" cy="1645920"/>
          </a:xfrm>
          <a:prstGeom prst="roundRect">
            <a:avLst/>
          </a:prstGeom>
          <a:solidFill>
            <a:srgbClr val="ECF4F3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4389120"/>
            <a:ext cx="3227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323B"/>
                </a:solidFill>
                <a:latin typeface="Arial"/>
              </a:rPr>
              <a:t>Field iso-precision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074920"/>
            <a:ext cx="3227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77884"/>
                </a:solidFill>
                <a:latin typeface="Consolas"/>
              </a:rPr>
              <a:t>regression if a field value changes &gt; 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Module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B83"/>
                </a:solidFill>
                <a:latin typeface="Arial"/>
              </a:rPr>
              <a:t>Clear lanes so two engineers can work in parallel. Dependencies point one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82296" cy="1143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src/d_extraction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4320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Edge schema, D-mode + baseline prompts, multi-call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19456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2194560"/>
            <a:ext cx="82296" cy="11430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34086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4320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4 detectors, retry policy, 3-counter FP telemetry,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8" y="219456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8" y="2194560"/>
            <a:ext cx="82296" cy="1143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34086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src/journal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74320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Batched-write journal + crash-recovery replay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82296" cy="1143000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66674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src/shadow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06908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D-vs-ground-truth comparison + Wilson bounds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52044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2544" y="3520440"/>
            <a:ext cx="82296" cy="114300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66674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src/feature_flags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06908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paiq.d_extraction.enabled gates prompt-mode swap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2168" y="352044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02168" y="3520440"/>
            <a:ext cx="82296" cy="1143000"/>
          </a:xfrm>
          <a:prstGeom prst="rect">
            <a:avLst/>
          </a:prstGeom>
          <a:solidFill>
            <a:srgbClr val="5EA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366674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src/telemetry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406908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FP-rate counters, observability hooks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46320"/>
            <a:ext cx="3685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846320"/>
            <a:ext cx="82296" cy="1143000"/>
          </a:xfrm>
          <a:prstGeom prst="rect">
            <a:avLst/>
          </a:prstGeom>
          <a:solidFill>
            <a:srgbClr val="6B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992624"/>
            <a:ext cx="33192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Consolas"/>
              </a:rPr>
              <a:t>src/cascade_integration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5394960"/>
            <a:ext cx="3319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B83"/>
                </a:solidFill>
                <a:latin typeface="Arial"/>
              </a:rPr>
              <a:t>Cascade-OCR judge re-calibration (one-time, pre-ship)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144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RISK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323B"/>
                </a:solidFill>
                <a:latin typeface="Arial"/>
              </a:rPr>
              <a:t>Kill Criteria keep the bet survivable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29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B83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B83"/>
                </a:solidFill>
                <a:latin typeface="Arial"/>
              </a:rPr>
              <a:t>Each gate has a trigger and a pre-agreed decision. Fire one, and the project pauses or reverts.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11201400" cy="457200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951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951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951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11201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82296" cy="841248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5544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Arial"/>
              </a:rP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97480"/>
            <a:ext cx="5943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4323B"/>
                </a:solidFill>
                <a:latin typeface="Arial"/>
              </a:rPr>
              <a:t>Field precision regresses &gt; 5% on existing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97480"/>
            <a:ext cx="3200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77884"/>
                </a:solidFill>
                <a:latin typeface="Arial"/>
              </a:rPr>
              <a:t>Flip the flag off. Instant revert.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11201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82296" cy="841248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15544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Arial"/>
              </a:rPr>
              <a:t>Week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657600"/>
            <a:ext cx="5943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4323B"/>
                </a:solidFill>
                <a:latin typeface="Arial"/>
              </a:rPr>
              <a:t>Guardrail FP rate outside 1–15% (counter 1 / total)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57600"/>
            <a:ext cx="3200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77884"/>
                </a:solidFill>
                <a:latin typeface="Arial"/>
              </a:rPr>
              <a:t>Tune the detectors or disable.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11201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17720"/>
            <a:ext cx="82296" cy="841248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15544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Arial"/>
              </a:rPr>
              <a:t>Quarter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617720"/>
            <a:ext cx="5943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4323B"/>
                </a:solidFill>
                <a:latin typeface="Arial"/>
              </a:rPr>
              <a:t>Edge precision &lt; 85% OR recall &lt; 80% on shadow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17720"/>
            <a:ext cx="3200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77884"/>
                </a:solidFill>
                <a:latin typeface="Arial"/>
              </a:rPr>
              <a:t>No Phase 2 expansion.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77840"/>
            <a:ext cx="11201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77840"/>
            <a:ext cx="82296" cy="841248"/>
          </a:xfrm>
          <a:prstGeom prst="rect">
            <a:avLst/>
          </a:prstGeom>
          <a:solidFill>
            <a:srgbClr val="6B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77840"/>
            <a:ext cx="15544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323B"/>
                </a:solidFill>
                <a:latin typeface="Arial"/>
              </a:rPr>
              <a:t>Week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577840"/>
            <a:ext cx="5943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4323B"/>
                </a:solidFill>
                <a:latin typeface="Arial"/>
              </a:rPr>
              <a:t>No written sponsor commitment in 7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577840"/>
            <a:ext cx="3200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77884"/>
                </a:solidFill>
                <a:latin typeface="Arial"/>
              </a:rPr>
              <a:t>Downgrade to contradiction-only wedge.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371600" cy="6350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EA8A7"/>
                </a:solidFill>
                <a:latin typeface="Arial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Status and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5212080" cy="3108960"/>
          </a:xfrm>
          <a:prstGeom prst="roundRect">
            <a:avLst/>
          </a:prstGeom>
          <a:solidFill>
            <a:srgbClr val="0F272E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82296" cy="3108960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EA8A7"/>
                </a:solidFill>
                <a:latin typeface="Arial"/>
              </a:rPr>
              <a:t>DONE  ·  BUILDABLE-NOW SUBSET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Edge schema + canonicalization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4 guardrail detectors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Retry policy + 3-counter telemetry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Batched journal + replay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Shadow comparison + Wilson bounds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Feature flag + downstream visibility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✓  Unit-green test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14600"/>
            <a:ext cx="5029200" cy="3108960"/>
          </a:xfrm>
          <a:prstGeom prst="roundRect">
            <a:avLst/>
          </a:prstGeom>
          <a:solidFill>
            <a:srgbClr val="0F272E"/>
          </a:solidFill>
          <a:ln w="12700">
            <a:solidFill>
              <a:srgbClr val="D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514600"/>
            <a:ext cx="82296" cy="3108960"/>
          </a:xfrm>
          <a:prstGeom prst="rect">
            <a:avLst/>
          </a:prstGeom>
          <a:solidFill>
            <a:srgbClr val="FE4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A33C"/>
                </a:solidFill>
                <a:latin typeface="Arial"/>
              </a:rPr>
              <a:t>NEXT  ·  PHASE-0 GATED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→  Close Q3: enumerate D-mode prompts/schemas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→  Wire CI eval gate (GitHub Actions)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→  Cascade-OCR judge re-calibration 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→  Live shadow run on 50-doc eval 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→  Complaint root-cause audit (Week-2 gate)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→  Sponsor written commitment (Week-1 gate)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EA8A7"/>
                </a:solidFill>
                <a:latin typeface="Arial"/>
              </a:rPr>
              <a:t>Primary success metric: reduce contradiction / missed-relationship complaint tickets by 50% within 90 days of shadow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